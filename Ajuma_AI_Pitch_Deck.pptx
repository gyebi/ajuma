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pic>
        <p:nvPicPr>
          <p:cNvPr id="3" name="Image 0" descr="/mnt/data/ajuma_deck/style.png">    </p:cNvPr>
          <p:cNvPicPr>
            <a:picLocks noChangeAspect="1"/>
          </p:cNvPicPr>
          <p:nvPr/>
        </p:nvPicPr>
        <p:blipFill>
          <a:blip r:embed="rId1"/>
          <a:srcRect l="15409" r="15409" t="0" b="0"/>
          <a:stretch/>
        </p:blipFill>
        <p:spPr>
          <a:xfrm>
            <a:off x="6583680" y="1051560"/>
            <a:ext cx="5029200" cy="484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8686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AJUMA AI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" y="16002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24F"/>
                </a:solidFill>
              </a:rPr>
              <a:t>AI-powered job-hunting platform for emerging-market talent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8C"/>
                </a:solidFill>
              </a:rPr>
              <a:t>Investor-ready overview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892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38B"/>
                </a:solidFill>
              </a:rPr>
              <a:t>Problem • Product • Architecture • Business Model • Risks • Roadmap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5669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738B"/>
                </a:solidFill>
              </a:rPr>
              <a:t>April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521440" y="64556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223760" y="457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38B"/>
                </a:solidFill>
              </a:rPr>
              <a:t>Job search is fragmented, noisy, and low-conversion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12700">
            <a:solidFill>
              <a:srgbClr val="2D7F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</a:rPr>
              <a:t>Too much noise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38B"/>
                </a:solidFill>
              </a:rPr>
              <a:t>Candidates sift through hundreds of listings with little fit or feedback.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</a:rPr>
              <a:t>Weak positioning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9160" y="23317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38B"/>
                </a:solidFill>
              </a:rPr>
              <a:t>Most resumes are not translated into a clear, compelling professional profile.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</a:rPr>
              <a:t>Manual workflow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58200" y="23317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38B"/>
                </a:solidFill>
              </a:rPr>
              <a:t>Applications, tracking, and follow-up are repetitive and time-consuming.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8463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8C"/>
                </a:solidFill>
              </a:rPr>
              <a:t>Ajuma AI reduces friction from resume to opportunity.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521440" y="64556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Ajuma AI does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223760" y="457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38B"/>
                </a:solidFill>
              </a:rPr>
              <a:t>Current MVP foundation plus investor-ready product direction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12700">
            <a:solidFill>
              <a:srgbClr val="2D7F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10515600" cy="822960"/>
          </a:xfrm>
          <a:prstGeom prst="roundRect">
            <a:avLst>
              <a:gd name="adj" fmla="val 5556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472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1. Upload resume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154680" y="1472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38B"/>
                </a:solidFill>
              </a:rPr>
              <a:t>PDF resume upload and text extraction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10515600" cy="822960"/>
          </a:xfrm>
          <a:prstGeom prst="roundRect">
            <a:avLst>
              <a:gd name="adj" fmla="val 5556"/>
            </a:avLst>
          </a:prstGeom>
          <a:solidFill>
            <a:srgbClr val="F7FA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615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2. Generate profile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154680" y="2615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38B"/>
                </a:solidFill>
              </a:rPr>
              <a:t>AI converts raw resume text into structured profile data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10515600" cy="822960"/>
          </a:xfrm>
          <a:prstGeom prst="roundRect">
            <a:avLst>
              <a:gd name="adj" fmla="val 5556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58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3. Sync jobs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154680" y="3758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38B"/>
                </a:solidFill>
              </a:rPr>
              <a:t>Jobs are pulled from external sources and deduplicated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10515600" cy="822960"/>
          </a:xfrm>
          <a:prstGeom prst="roundRect">
            <a:avLst>
              <a:gd name="adj" fmla="val 5556"/>
            </a:avLst>
          </a:prstGeom>
          <a:solidFill>
            <a:srgbClr val="F7FA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901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4. Match &amp; improve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154680" y="4901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38B"/>
                </a:solidFill>
              </a:rPr>
              <a:t>Next: scoring, skill-gap analysis, and tailored recommendations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21440" y="64556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architecture and live API surface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223760" y="457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38B"/>
                </a:solidFill>
              </a:rPr>
              <a:t>Combined from the two project write-ups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12700">
            <a:solidFill>
              <a:srgbClr val="2D7F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Frontend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738B"/>
                </a:solidFill>
              </a:rPr>
              <a:t>React / Vite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72968" y="1874520"/>
            <a:ext cx="292608" cy="365760"/>
          </a:xfrm>
          <a:prstGeom prst="chevron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55448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783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Backend API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703320" y="2103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738B"/>
                </a:solidFill>
              </a:rPr>
              <a:t>Express + Firebase Auth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61888" y="1874520"/>
            <a:ext cx="292608" cy="365760"/>
          </a:xfrm>
          <a:prstGeom prst="chevron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55448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783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Data &amp; AI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738B"/>
                </a:solidFill>
              </a:rPr>
              <a:t>Firestore + OpenAI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50808" y="1874520"/>
            <a:ext cx="292608" cy="365760"/>
          </a:xfrm>
          <a:prstGeom prst="chevron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155448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1783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Job ingestion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281160" y="2103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738B"/>
                </a:solidFill>
              </a:rPr>
              <a:t>Arbeitnow + sync logic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063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8C"/>
                </a:solidFill>
              </a:rPr>
              <a:t>Confirmed / discussed endpoints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68680" y="3429000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3337560"/>
            <a:ext cx="4828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GET /health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68680" y="3941064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" y="3849624"/>
            <a:ext cx="4828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GET /protected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68680" y="4453128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4361688"/>
            <a:ext cx="4828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POST /resume/upload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68680" y="4965192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9848" y="4873752"/>
            <a:ext cx="4828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POST /ai/generate-profile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68680" y="5477256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9848" y="5385816"/>
            <a:ext cx="4828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GET /ai/ping (debug)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68680" y="5989320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9848" y="5897880"/>
            <a:ext cx="4828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POST /jobs/sync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68680" y="6501384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" y="6409944"/>
            <a:ext cx="4828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24F"/>
                </a:solidFill>
              </a:rPr>
              <a:t>Recommended next: GET /jobs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00800" y="3154680"/>
            <a:ext cx="4846320" cy="2057400"/>
          </a:xfrm>
          <a:prstGeom prst="roundRect">
            <a:avLst>
              <a:gd name="adj" fmla="val 2222"/>
            </a:avLst>
          </a:prstGeom>
          <a:solidFill>
            <a:srgbClr val="F7FA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34015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Why this architecture works for an MVP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629400" y="3840480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0568" y="3749040"/>
            <a:ext cx="4096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Fast to ship with managed infrastructure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29400" y="4352544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0568" y="4261104"/>
            <a:ext cx="4096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Secure auth with Firebase ID tokens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29400" y="4864608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0568" y="4773168"/>
            <a:ext cx="4096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Simple AI loop from resume text to profile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629400" y="5376672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30568" y="5285232"/>
            <a:ext cx="4096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Clear path to matching and premium features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1521440" y="64556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 SaaS platform successful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223760" y="457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38B"/>
                </a:solidFill>
              </a:rPr>
              <a:t>The operating checklist investors expect founders to understand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12700">
            <a:solidFill>
              <a:srgbClr val="2D7F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120640" cy="1097280"/>
          </a:xfrm>
          <a:prstGeom prst="roundRect">
            <a:avLst>
              <a:gd name="adj" fmla="val 4167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08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Security &amp; trust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38B"/>
                </a:solidFill>
              </a:rPr>
              <a:t>Authentication, authorization, secrets management, backups, auditability, privacy by design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120640" cy="1097280"/>
          </a:xfrm>
          <a:prstGeom prst="roundRect">
            <a:avLst>
              <a:gd name="adj" fmla="val 4167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508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Ease of use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73952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38B"/>
                </a:solidFill>
              </a:rPr>
              <a:t>Fast onboarding, intuitive UX, clear error states, mobile-friendly flows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5120640" cy="1097280"/>
          </a:xfrm>
          <a:prstGeom prst="roundRect">
            <a:avLst>
              <a:gd name="adj" fmla="val 4167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9718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Monetization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38B"/>
                </a:solidFill>
              </a:rPr>
              <a:t>Free-to-paid conversion, pricing tiers, expansion revenue, healthy unit economics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834640"/>
            <a:ext cx="5120640" cy="1097280"/>
          </a:xfrm>
          <a:prstGeom prst="roundRect">
            <a:avLst>
              <a:gd name="adj" fmla="val 4167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9718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Reliability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73952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38B"/>
                </a:solidFill>
              </a:rPr>
              <a:t>High uptime, resilient integrations, graceful failures, observability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5120640" cy="1097280"/>
          </a:xfrm>
          <a:prstGeom prst="roundRect">
            <a:avLst>
              <a:gd name="adj" fmla="val 4167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4348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Scalability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38B"/>
                </a:solidFill>
              </a:rPr>
              <a:t>Cloud-native infrastructure, queueing, caching, efficient database patterns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297680"/>
            <a:ext cx="5120640" cy="1097280"/>
          </a:xfrm>
          <a:prstGeom prst="roundRect">
            <a:avLst>
              <a:gd name="adj" fmla="val 4167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44348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Retention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73952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38B"/>
                </a:solidFill>
              </a:rPr>
              <a:t>Repeat value, personalization, notifications, measurable outcomes for users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0" y="64556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 and monetization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223760" y="457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38B"/>
                </a:solidFill>
              </a:rPr>
              <a:t>From freemium utility to premium career outcomes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12700">
            <a:solidFill>
              <a:srgbClr val="2D7F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3291840" cy="3200400"/>
          </a:xfrm>
          <a:prstGeom prst="roundRect">
            <a:avLst>
              <a:gd name="adj" fmla="val 1714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4F"/>
                </a:solidFill>
              </a:rPr>
              <a:t>Free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D738B"/>
                </a:solidFill>
              </a:rPr>
              <a:t>Resume upload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5D738B"/>
                </a:solidFill>
              </a:rPr>
              <a:t>Basic AI profile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5D738B"/>
                </a:solidFill>
              </a:rPr>
              <a:t>Job sync and search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0" y="1645920"/>
            <a:ext cx="3291840" cy="3200400"/>
          </a:xfrm>
          <a:prstGeom prst="roundRect">
            <a:avLst>
              <a:gd name="adj" fmla="val 1714"/>
            </a:avLst>
          </a:prstGeom>
          <a:solidFill>
            <a:srgbClr val="DDEE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4F"/>
                </a:solidFill>
              </a:rPr>
              <a:t>Pro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25146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D738B"/>
                </a:solidFill>
              </a:rPr>
              <a:t>Advanced matching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5D738B"/>
                </a:solidFill>
              </a:rPr>
              <a:t>Tailored recommendations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5D738B"/>
                </a:solidFill>
              </a:rPr>
              <a:t>Application tracking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321040" y="1645920"/>
            <a:ext cx="3291840" cy="3200400"/>
          </a:xfrm>
          <a:prstGeom prst="roundRect">
            <a:avLst>
              <a:gd name="adj" fmla="val 1714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4F"/>
                </a:solidFill>
              </a:rPr>
              <a:t>B2B / Enterprise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95360" y="25146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D738B"/>
                </a:solidFill>
              </a:rPr>
              <a:t>Recruiter sourcing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5D738B"/>
                </a:solidFill>
              </a:rPr>
              <a:t>University / bootcamp partnerships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5D738B"/>
                </a:solidFill>
              </a:rPr>
              <a:t>White-label career tools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53949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8C"/>
                </a:solidFill>
              </a:rPr>
              <a:t>Key metrics to watch: CAC, activation rate, resume-to-profile conversion, profile-to-application rate, retention, and ARPU.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21440" y="64556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Ajuma AI can win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223760" y="457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38B"/>
                </a:solidFill>
              </a:rPr>
              <a:t>The opportunity is not just job listings; it is workflow ownership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12700">
            <a:solidFill>
              <a:srgbClr val="2D7F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4663440" cy="4023360"/>
          </a:xfrm>
          <a:prstGeom prst="roundRect">
            <a:avLst>
              <a:gd name="adj" fmla="val 1136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83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</a:rPr>
              <a:t>Potential moat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2331720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2240280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Structured talent profiles built from unstructured resumes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2843784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752344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Growing user dataset on skills, intent, and job interactions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3355848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3264408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Localized focus for underserved job seekers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3867912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3776472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Workflow expansion from discovery to matching to outcomes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06440" y="1463040"/>
            <a:ext cx="5486400" cy="4023360"/>
          </a:xfrm>
          <a:prstGeom prst="roundRect">
            <a:avLst>
              <a:gd name="adj" fmla="val 1136"/>
            </a:avLst>
          </a:prstGeom>
          <a:solidFill>
            <a:srgbClr val="F7FA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783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</a:rPr>
              <a:t>Why now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26480" y="2331720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2240280"/>
            <a:ext cx="4279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AI lowers the cost of profile creation and personalization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2843784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752344"/>
            <a:ext cx="4279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Managed cloud services accelerate lean execution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26480" y="3355848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3264408"/>
            <a:ext cx="4279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Users increasingly expect intelligent assistance, not static job boards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26480" y="3867912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3776472"/>
            <a:ext cx="4279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</a:rPr>
              <a:t>Employers and training partners want better candidate signal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21440" y="64556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risks and mitigation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223760" y="457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38B"/>
                </a:solidFill>
              </a:rPr>
              <a:t>Strong founders name the risks early and show control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12700">
            <a:solidFill>
              <a:srgbClr val="2D7F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10515600" cy="566928"/>
          </a:xfrm>
          <a:prstGeom prst="roundRect">
            <a:avLst>
              <a:gd name="adj" fmla="val 6452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9105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AI cost / rate limits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474720" y="159105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38B"/>
                </a:solidFill>
              </a:rPr>
              <a:t>Use caching, retries, model fallback, and stricter prompts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10515600" cy="566928"/>
          </a:xfrm>
          <a:prstGeom prst="roundRect">
            <a:avLst>
              <a:gd name="adj" fmla="val 6452"/>
            </a:avLst>
          </a:prstGeom>
          <a:solidFill>
            <a:srgbClr val="F7FA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45973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Data privacy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74720" y="245973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38B"/>
                </a:solidFill>
              </a:rPr>
              <a:t>Minimize stored PII, use token verification, and protect secrets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10515600" cy="566928"/>
          </a:xfrm>
          <a:prstGeom prst="roundRect">
            <a:avLst>
              <a:gd name="adj" fmla="val 6452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32841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Integration dependency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74720" y="332841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38B"/>
                </a:solidFill>
              </a:rPr>
              <a:t>Abstract external APIs and keep ingestion modular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10515600" cy="566928"/>
          </a:xfrm>
          <a:prstGeom prst="roundRect">
            <a:avLst>
              <a:gd name="adj" fmla="val 6452"/>
            </a:avLst>
          </a:prstGeom>
          <a:solidFill>
            <a:srgbClr val="F7FA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19709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User churn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74720" y="41970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38B"/>
                </a:solidFill>
              </a:rPr>
              <a:t>Deliver clear value quickly: profile quality, matching quality, and saved time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4937760"/>
            <a:ext cx="10515600" cy="566928"/>
          </a:xfrm>
          <a:prstGeom prst="roundRect">
            <a:avLst>
              <a:gd name="adj" fmla="val 6452"/>
            </a:avLst>
          </a:prstGeom>
          <a:solidFill>
            <a:srgbClr val="EAF3FF"/>
          </a:solidFill>
          <a:ln w="12700">
            <a:solidFill>
              <a:srgbClr val="CFE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06577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Execution risk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74720" y="5065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38B"/>
                </a:solidFill>
              </a:rPr>
              <a:t>Prioritize a narrow wedge before expanding the product surface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0" y="64556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and investor take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223760" y="457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38B"/>
                </a:solidFill>
              </a:rPr>
              <a:t>A strong MVP with a credible next step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12700">
            <a:solidFill>
              <a:srgbClr val="2D7F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</a:rPr>
              <a:t>Near-term roadmap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874520"/>
            <a:ext cx="4462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24F"/>
                </a:solidFill>
              </a:rPr>
              <a:t>Harden current APIs and strict JSON AI outputs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478024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386584"/>
            <a:ext cx="4462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24F"/>
                </a:solidFill>
              </a:rPr>
              <a:t>Add GET /jobs and frontend job display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2990088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898648"/>
            <a:ext cx="4462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24F"/>
                </a:solidFill>
              </a:rPr>
              <a:t>Launch profile-to-job matching and scoring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3502152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410712"/>
            <a:ext cx="4462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24F"/>
                </a:solidFill>
              </a:rPr>
              <a:t>Add dashboards, alerts, and better UX states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014216"/>
            <a:ext cx="109728" cy="1097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922776"/>
            <a:ext cx="4462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24F"/>
                </a:solidFill>
              </a:rPr>
              <a:t>Prepare analytics, security, and billing for scale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0" y="1600200"/>
            <a:ext cx="4754880" cy="2971800"/>
          </a:xfrm>
          <a:prstGeom prst="roundRect">
            <a:avLst>
              <a:gd name="adj" fmla="val 2462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Investor take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23317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3FF"/>
                </a:solidFill>
              </a:rPr>
              <a:t>Ajuma AI already demonstrates the right MVP primitives: secure auth, protected backend, resume ingestion, AI profile generation, and job syncing. The next value unlock is matching, retention, and monetization discipline.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56235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D738B"/>
                </a:solidFill>
              </a:rPr>
              <a:t>Recommended use of this deck: fundraising conversations, partner outreach, technical roadmap alignment, and hiring.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0" y="64556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Ajuma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Ajuma AI Pitch Deck</dc:title>
  <dc:subject>Investor Pitch</dc:subject>
  <dc:creator>OpenAI</dc:creator>
  <cp:lastModifiedBy>OpenAI</cp:lastModifiedBy>
  <cp:revision>1</cp:revision>
  <dcterms:created xsi:type="dcterms:W3CDTF">2026-04-01T17:23:48Z</dcterms:created>
  <dcterms:modified xsi:type="dcterms:W3CDTF">2026-04-01T17:23:48Z</dcterms:modified>
</cp:coreProperties>
</file>